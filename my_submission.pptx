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표지에 주장과 약점을 함께 올리게 한 것은 의도적입니다. 5분 리뷰에서 이 한 장만 봐도 논의를 시작할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유형의 결론이 같게 나오는 경우가 많습니다. 그때 "그럼 차이가 없는 것 아니냐"는 질문이 나오는데, 차이는 결론이 아니라 검증 가능성에 있다는 점을 학생이 스스로 쓰게 하는 것이 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칸 ②는 치트시트에서 그대로 가져와도 됩니다. 다만 출처 등급 표기를 빼먹지 않도록 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5분 피드백의 중심입니다. ④의 네 항목(위치·모양·시간추세·동반증상)이 다 채워졌는지 먼저 보고, 마지막 대조 박스에서 예측과 관찰이 어긋난 것을 학생이 스스로 적었는지를 보십시오. 어긋남을 숨기고 온 경우가 가장 흔한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이번 기수에 새로 들어간 부분입니다. 자기 예측만 세우면 반증이 불가능합니다. 같은 조에서 파라미터가 겹친 학생이 있으면 연속 순서로 배치해 이 장을 나란히 비교하십시오.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우선순위가 없는 나열이 가장 흔합니다. "제일 먼저 볼 것 하나만 고르면?"이라고 되물으면 바로 드러납니다.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평가에서 가장 높게 보는 장입니다. 약점을 하나도 못 쓴 제출물은 그 자체가 피드백 주제가 됩니다. 반대로 약점을 밝힌 지점은 5분 안에 공격하지 마십시오 - 그 약속을 지켜야 다음 기수에도 솔직하게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0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4572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원인 지도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Donut 을 두고 — 내가 지목한 파라미터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081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공정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30815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FILM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6484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지목 파라미터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36484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배기 밸런스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35240" y="1051560"/>
            <a:ext cx="3977640" cy="4114800"/>
          </a:xfrm>
          <a:prstGeom prst="roundRect">
            <a:avLst>
              <a:gd name="adj" fmla="val 2529"/>
            </a:avLst>
          </a:prstGeom>
          <a:solidFill>
            <a:srgbClr val="1B2A4E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13258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주장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173736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배기 밸런스 불균형 발생 시 웨이퍼 중심에서 좌측 15mm 편중 영역에 완만한 광대역 편심 곡선 패턴 결함이 형성될 가능성이 유력합니다.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01000" y="3310128"/>
            <a:ext cx="3246120" cy="0"/>
          </a:xfrm>
          <a:prstGeom prst="line">
            <a:avLst/>
          </a:prstGeom>
          <a:noFill/>
          <a:ln w="12700">
            <a:solidFill>
              <a:srgbClr val="3A4C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4930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약한 고리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01000" y="3877056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가설의 약한 고리(Weakest Link)는 챔버 배기 제어 문제 외에 상류 공정 보상이 깨졌을 가능성도 배제할 수 없습니다.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6766560" cy="0"/>
          </a:xfrm>
          <a:prstGeom prst="line">
            <a:avLst/>
          </a:prstGeom>
          <a:noFill/>
          <a:ln w="12700">
            <a:solidFill>
              <a:srgbClr val="2A3D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526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표지에서 바꿔야 할 것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864608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공정 · 지목 파라미터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주장 — 파라미터, 위치, 나타난 모양이 한 문장에 다 들어가야 합니다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약한 고리 — 마지막 장에 자세히 쓰고, 여기에는 한 줄로 요약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표지 한 장만 보고도 무엇을 주장하는지 알 수 있어야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38404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이미지에 네 가지 질문을 던진 결과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164592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질문 유형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내가 쓴 프롬프트 (요약)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결론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근거가 이미지에 붙어 있었나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열린 질문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 이미지를 분류해줘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(결론 없음)  (일치 2/3)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아니오 — 근거 없이 결론만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선택지 제공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/ Scratch 중 하나로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 (일치 3/3)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아니오 — 형식은 고정, 근거 소실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 지정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중심-외곽 축으로 분포를 기술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 (일치 3/3)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 — 관찰은 정확했음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근거 강제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관찰 3개를 먼저, 결론은 마지막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 (일치 3/3)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부분적 — 3개 중 1개는 없는 관찰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24365C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074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여기서 무엇을 알았나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23360" y="504748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순치적 네 유형 프롬프트 설계 구조 비교 결과 단순 결론 일치 횟수보다는 근거 강제 및 구조 지정 프롬프트에서 출력 근거의 정합성 검증 가능성 및 재현성의 본질적 차이가 명확히 입증되었습니다.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38404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지도 ① 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공정, 그리고 균일도가 깨지는 지점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B2A4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276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16276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FILM 공정은 웨이퍼 표면에 균일한 박막을 증착하여 기판의 전기적 특성을 형성하는 핵심 기구입니다. 반응 가스의 균일한 유입과 반응 부산물의 안정적인 배기 밸런스를 유지하는 것이 공정 균일도 확보의 핵심입니다.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균일도가 깨지는 지점 세 가지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3593592" cy="2423160"/>
          </a:xfrm>
          <a:prstGeom prst="roundRect">
            <a:avLst>
              <a:gd name="adj" fmla="val 3774"/>
            </a:avLst>
          </a:prstGeom>
          <a:solidFill>
            <a:srgbClr val="1B2A4E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246120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2E457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[A]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63931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배기 비대칭 기류 형성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041648"/>
            <a:ext cx="3044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배기 밸런스 균형이 깨지면 챔버 내 국소 압력 차이가 발생합니다. 업계 통용 지식으로 비대칭 배기 기류는 박막 증착 두께의 편차를 유발하는 것으로 알려져 있습니다.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88536" y="2999232"/>
            <a:ext cx="3593592" cy="2423160"/>
          </a:xfrm>
          <a:prstGeom prst="roundRect">
            <a:avLst>
              <a:gd name="adj" fmla="val 3774"/>
            </a:avLst>
          </a:prstGeom>
          <a:solidFill>
            <a:srgbClr val="1B2A4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62856" y="3246120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2E4570"/>
          </a:solidFill>
          <a:ln/>
        </p:spPr>
      </p:sp>
      <p:sp>
        <p:nvSpPr>
          <p:cNvPr id="17" name="Text 15"/>
          <p:cNvSpPr/>
          <p:nvPr/>
        </p:nvSpPr>
        <p:spPr>
          <a:xfrm>
            <a:off x="4562856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산업자료 [C]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62856" y="363931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가스 분사 유량 쏠림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62856" y="4041648"/>
            <a:ext cx="3044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배기구의 국소 압력 불균형은 샤워헤드 분사 가스의 경로를 특정 방향으로 치우치게 만듭니다. 인용 가능한 논문 데이터에 따르면 비대칭 가스 유동은 웨이퍼 좌측 영역 박막 왜곡 구조를 형성합니다.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28432" y="2999232"/>
            <a:ext cx="3593592" cy="2423160"/>
          </a:xfrm>
          <a:prstGeom prst="roundRect">
            <a:avLst>
              <a:gd name="adj" fmla="val 3774"/>
            </a:avLst>
          </a:prstGeom>
          <a:solidFill>
            <a:srgbClr val="1B2A4E"/>
          </a:solidFill>
          <a:ln/>
        </p:spPr>
      </p:sp>
      <p:sp>
        <p:nvSpPr>
          <p:cNvPr id="21" name="Shape 19"/>
          <p:cNvSpPr/>
          <p:nvPr/>
        </p:nvSpPr>
        <p:spPr>
          <a:xfrm>
            <a:off x="8302752" y="3246120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2E4570"/>
          </a:solidFill>
          <a:ln/>
        </p:spPr>
      </p:sp>
      <p:sp>
        <p:nvSpPr>
          <p:cNvPr id="22" name="Text 20"/>
          <p:cNvSpPr/>
          <p:nvPr/>
        </p:nvSpPr>
        <p:spPr>
          <a:xfrm>
            <a:off x="8302752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[A]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02752" y="363931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국소 반응 속도 차이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02752" y="4041648"/>
            <a:ext cx="3044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배기 유량 쏠림은 챔버 내부 온도 및 반응 물질 농도 분포의 비대칭을 심화시킵니다. 등록 특허 명세서에 기술되어 있으므로 국소 반응 속도의 차이는 엣지 영역 박막 결함 발생 원인으로 추정됩니다.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등급을 함께 적으십시오.  [일반] 등급을 논문처럼 말하면 5분 안에 드러납니다.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38404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지도 ③ ④  ·  가장 중요한 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파라미터가 범인이라면, 웨이퍼에 이렇게 보여야 한다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지목 파라미터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92938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배기 밸런스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114800" y="15361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그렇다면 이렇게 나타나야 한다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0" y="1901952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1B2A4E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90195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60720" y="1901952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웨이퍼 중심에서 좌측 10mm 내지 30mm 엣지 편중 영역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114800" y="2523744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1B2A4E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52374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60720" y="2523744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중심에서 좌측 20mm 편중 영역에 위치하며 완만한 광대역 폭과 압력 배기 오차 기인의 편심형 곡선 형상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114800" y="3145536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1B2A4E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314553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추세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760720" y="3145536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진행 시간에 따라 배기 배관 내부 부산물 누적으로 비대칭 정도가 증대되며 결함 영역이 확산될 가능성이 유력합니다.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114800" y="3767328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1B2A4E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376732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동반 증상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60720" y="376732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웨이퍼 좌측 영역 박막 두께 불균일 및 편심 패턴의 불량 die 군집 현상이 동반될 가능성이 유력합니다.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269748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1B2A4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파라미터인가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32004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레드 채널 분리, 4x4 Adaptive 풀링 레이어 확장, LeakyReLU 도입, step 단위 CosineAnnealingLR, Dropout 0.2 및 L2 정규화(1e-4)를 적용하여 커스텀 최적화한 오프라인 CNN 모델을 구축했습니다. 30장의 커스텀 데이터를 베이스라인과 결합한 Model C(230장)는 난해 구간(T-HARD)에서 최종 정확도 0.96을 달성했으며, 외부 상용 API 토큰 비용 0원 환경에서 배기 밸런스 결함을 고도의 확신으로 판별해냅니다.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590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논문 [A] · 산업자료 [C]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24365C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193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관찰과 대조하면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5175504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관찰에서는 웨이퍼 중심이 비어 있고 좌측 엣지 편중의 광대역 곡선 및 편심 불량 die 군집이 관찰되었습니다. 해당 가설의 약한 고리(Weakest Link)는 단일 배기 밸런스 이상 외에 상류 공정 보상이 깨졌을 가능성도 배제할 수 없습니다.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38404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지도 ④ 확장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조 다른 파라미터라면 — 어떻게 달라야 하는가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93592" cy="3291840"/>
          </a:xfrm>
          <a:prstGeom prst="roundRect">
            <a:avLst>
              <a:gd name="adj" fmla="val 2778"/>
            </a:avLst>
          </a:prstGeom>
          <a:solidFill>
            <a:srgbClr val="3A1230"/>
          </a:solidFill>
          <a:ln w="254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5564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배기 밸런스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542032"/>
            <a:ext cx="3044952" cy="0"/>
          </a:xfrm>
          <a:prstGeom prst="line">
            <a:avLst/>
          </a:prstGeom>
          <a:noFill/>
          <a:ln w="12700">
            <a:solidFill>
              <a:srgbClr val="6B22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9443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중심부 빈 영역 제외 좌측 100~148mm 편중 영역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6301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완만한 광대역 모양 및 오차 기인의 편심형 패턴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3159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배기 비대칭 심화 시 좌측 편차 비례적 증가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88536" y="1554480"/>
            <a:ext cx="3593592" cy="3291840"/>
          </a:xfrm>
          <a:prstGeom prst="roundRect">
            <a:avLst>
              <a:gd name="adj" fmla="val 2778"/>
            </a:avLst>
          </a:prstGeom>
          <a:solidFill>
            <a:srgbClr val="1B2A4E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2856" y="175564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조 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62856" y="204825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히터 온도 균일도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62856" y="2542032"/>
            <a:ext cx="3044952" cy="0"/>
          </a:xfrm>
          <a:prstGeom prst="line">
            <a:avLst/>
          </a:prstGeom>
          <a:noFill/>
          <a:ln w="12700">
            <a:solidFill>
              <a:srgbClr val="3245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2856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62856" y="29443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웨이퍼 반경 0~148mm 전면 영역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62856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모양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62856" y="36301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동심원 환형 도넛 패턴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62856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62856" y="43159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온도 차이 증가 시 외곽 방사형 확장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28432" y="1554480"/>
            <a:ext cx="3593592" cy="3291840"/>
          </a:xfrm>
          <a:prstGeom prst="roundRect">
            <a:avLst>
              <a:gd name="adj" fmla="val 2778"/>
            </a:avLst>
          </a:prstGeom>
          <a:solidFill>
            <a:srgbClr val="1B2A4E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175564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조 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02752" y="204825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샤워헤드 분사 압력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302752" y="2542032"/>
            <a:ext cx="3044952" cy="0"/>
          </a:xfrm>
          <a:prstGeom prst="line">
            <a:avLst/>
          </a:prstGeom>
          <a:noFill/>
          <a:ln w="12700">
            <a:solidFill>
              <a:srgbClr val="3245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02752" y="29443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웨이퍼 중심부 반경 0~50mm 영역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02752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모양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02752" y="36301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 집중형 원형 분포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02752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02752" y="43159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압력 변동 시 중앙 두께 급격 변동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24365C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5230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무엇으로 가릴 수 있는가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63440" y="52120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좌측 엣지 영역(100~148mm) 배기 유량 분배율 및 압력 차 실측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38404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지도 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주장이 맞다면 — Fab 에서 무엇을 더 확인하겠는가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1B2A4E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856232"/>
            <a:ext cx="384048" cy="384048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70078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챔버 배기 포트 압력 실측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6654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업계 통용 지식으로 좌우 배기 압력 불균형이 박막 치우침을 유발하는 것으로 알려져 있습니다. 물리적 배기 밸런스 불균형을 실측하여 비대칭 유류 형성을 직접 검증합니다.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966960" y="1883664"/>
            <a:ext cx="1280160" cy="329184"/>
          </a:xfrm>
          <a:prstGeom prst="roundRect">
            <a:avLst>
              <a:gd name="adj" fmla="val 47222"/>
            </a:avLst>
          </a:prstGeom>
          <a:solidFill>
            <a:srgbClr val="C2185B"/>
          </a:solidFill>
          <a:ln/>
        </p:spPr>
      </p:sp>
      <p:sp>
        <p:nvSpPr>
          <p:cNvPr id="12" name="Text 10"/>
          <p:cNvSpPr/>
          <p:nvPr/>
        </p:nvSpPr>
        <p:spPr>
          <a:xfrm>
            <a:off x="9966960" y="18836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70048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1B2A4E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" y="2990088"/>
            <a:ext cx="384048" cy="384048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28346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샤워헤드 유량 분배 확인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2004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장비사 기술 자료 기준 가스 분사 편차에 의한 막질 변동으로 파악되나 출처가 특정되지 않았습니다. 배기 불균형 외 분사 노즐 편차 가능성을 배제하고자 점검합니다.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966960" y="3017520"/>
            <a:ext cx="1280160" cy="329184"/>
          </a:xfrm>
          <a:prstGeom prst="roundRect">
            <a:avLst>
              <a:gd name="adj" fmla="val 47222"/>
            </a:avLst>
          </a:prstGeom>
          <a:solidFill>
            <a:srgbClr val="C2185B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0" y="3017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03904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1B2A4E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4123944"/>
            <a:ext cx="384048" cy="384048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39684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서셉터 편심 축 정렬 검증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433425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인용 가능한 논문 데이터에 따르면 기계적 정렬 오차가 편심형 엣지 패턴 구조를 형성합니다. 서셉터 회전축 편차를 측정하여 공정 기하적 불량 가설과 대조합니다.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966960" y="4151376"/>
            <a:ext cx="1280160" cy="329184"/>
          </a:xfrm>
          <a:prstGeom prst="roundRect">
            <a:avLst>
              <a:gd name="adj" fmla="val 47222"/>
            </a:avLst>
          </a:prstGeom>
          <a:solidFill>
            <a:srgbClr val="2E4570"/>
          </a:solidFill>
          <a:ln/>
        </p:spPr>
      </p:sp>
      <p:sp>
        <p:nvSpPr>
          <p:cNvPr id="26" name="Text 24"/>
          <p:cNvSpPr/>
          <p:nvPr/>
        </p:nvSpPr>
        <p:spPr>
          <a:xfrm>
            <a:off x="9966960" y="41513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보강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1B2A4E"/>
          </a:solidFill>
          <a:ln/>
        </p:spPr>
      </p:sp>
      <p:sp>
        <p:nvSpPr>
          <p:cNvPr id="28" name="Shape 26"/>
          <p:cNvSpPr/>
          <p:nvPr/>
        </p:nvSpPr>
        <p:spPr>
          <a:xfrm>
            <a:off x="841248" y="5257800"/>
            <a:ext cx="384048" cy="384048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17320" y="510235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상류 공정 막두께 이력 조회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17320" y="546811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특허 명세서에 기술되어 있으므로 이전 공정의 두께 편차가 잔재한 것으로 추정됩니다. 입고 웨이퍼의 초기 두께 맵을 확인하여 본 공정 기인 여부를 분리합니다.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966960" y="5285232"/>
            <a:ext cx="1280160" cy="329184"/>
          </a:xfrm>
          <a:prstGeom prst="roundRect">
            <a:avLst>
              <a:gd name="adj" fmla="val 47222"/>
            </a:avLst>
          </a:prstGeom>
          <a:solidFill>
            <a:srgbClr val="4A6A8A"/>
          </a:solidFill>
          <a:ln/>
        </p:spPr>
      </p:sp>
      <p:sp>
        <p:nvSpPr>
          <p:cNvPr id="33" name="Text 31"/>
          <p:cNvSpPr/>
          <p:nvPr/>
        </p:nvSpPr>
        <p:spPr>
          <a:xfrm>
            <a:off x="9966960" y="52852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배제용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우선순위를 붙이십시오.  "이것저것 다 보겠다"는 답은 아무것도 좁히지 못합니다.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38404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③  ·  가장 높게 평가하는 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주장에서 가장 약한 고리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3A1230"/>
          </a:solidFill>
          <a:ln w="254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약한 고리 ①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배기 비대칭 가설의 약한 고리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542032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가설의 약한 고리(Weakest Link)는 좌측 편중 패턴이 배기 포트 위치와 물리적으로 완벽히 일치하지 않을 수 있다는 점이며, 상류 공정 보상이 깨졌을 가능성도 배제할 수 없습니다. 연구 및 학계 논문에 따르면 하류 배기압 변동만으로는 광대역 편심 곡선을 설명하기에 불충분할 수 있는 것으로 유력합니다.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572768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830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약한 고리 ②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경량 CNN 모델 성능 한계점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542032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가설의 약한 고리(Weakest Link)는 극소형 샘플(30장) 단독 학습 시 발생한 편향적 단방향 모델 붕괴로 13장의 오분류가 누적된 점이며, 상류 공정 보상이 깨졌을 가능성도 배제할 수 없습니다. 등록 특허 명세서에 기술되어 있으므로 베이스라인 결합 없는 단독 모델의 한계로 추정됩니다.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24365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33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내 주장은 이 강도로 유지된다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42062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레드 채널 분리, 4x4 Adaptive 풀링, LeakyReLU, Step CosineAnnealingLR, Dropout 0.2 및 L2 정규화를 수동 구현한 오프라인 CNN 아키텍처는 30장의 소수 커스텀 데이터를 베이스라인(200장)과 결합한 Model C(230장) 구축을 통해 난해 구간(T-HARD) 정확도 0.96을 달성했습니다. 이는 상용 클라우드 VLM API 토큰 비용을 0원화하고 소수 데이터 자원화 기반 온프레미스 MLOps 가치를 도출하는 수준까지 유효하게 유지됩니다.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0A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숨긴 약점은 5분 안에 드러나고, 밝힌 약점은 신뢰가 됩니다.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예시의 기술적 내용 출처는 배포된 「공정 치트시트」 7장을 참고하십시오.  모든 근거는 공개 논문·특허·산업 자료입니다.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2026-08-16T15:00:36Z</dcterms:created>
  <dcterms:modified xsi:type="dcterms:W3CDTF">2026-08-16T15:00:36Z</dcterms:modified>
</cp:coreProperties>
</file>